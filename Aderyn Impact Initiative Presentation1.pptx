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7960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the review rests on 200 community records, 130 of whom attended, and one outreach review. The aim is to rebuild understanding, earn trust and enable meaningful participation.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is reasonable at 65%, but only 28.5% of attendees understood the programme clearly, 19.2% report high or very high trust, and 24.6% participated meaningfully.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Clear understanding rises with English proficiency: 92.9% of fluent speakers against 0% of those with no English. This is a descriptive relationship, not proof that language is the cause. Orange bars mark the groups where understanding is weakest.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Trust is higher where understanding is clear (48.6%), but still under half. That is why the plan pairs communication with relationship repair rather than relying on explanation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attendee with low or very low trust contributed actively. Among those with high trust, over 60% did. The design response is safe, optional ways to take part, not pressure to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largest concerns, shown in orange, are language, the need for a clearer explanation of purpose, and not hearing about the programme. Among the 70 non-attendees, not hearing about it was the biggest barrier.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Local-language and women’s group meetings are the clear preferences (126 of 200). Only 31.5% say they would definitely return, so the redesign treats a “maybe” as a chance to listen, not a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Expected pathway: accessible explanation plus trusted relationships lead to understanding, then trust, then participation, then adoption. This is the proposed logic, to be validated with the community.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has a named owner. Timings are relative to approval, not calendar dates. No budget was supplied, so resource needs are listed without costs.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ask: approve the listening and co-design phase, the facilitation and safeguarding resources, named owners and a small pilot. Wider rollout waits for the readiness review and evidence of clearer understanding and improved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56640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280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798241"/>
            <a:ext cx="10566400" cy="4246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4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160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B4F3C"/>
              </a:gs>
              <a:gs pos="100000">
                <a:srgbClr val="073A2B"/>
              </a:gs>
            </a:gsLst>
            <a:lin ang="2700000" scaled="0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Shape 1"/>
          <p:cNvSpPr/>
          <p:nvPr/>
        </p:nvSpPr>
        <p:spPr>
          <a:xfrm>
            <a:off x="0" y="81227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5" name="Text 3"/>
          <p:cNvSpPr>
            <a:spLocks noGrp="1"/>
          </p:cNvSpPr>
          <p:nvPr>
            <p:ph type="title"/>
          </p:nvPr>
        </p:nvSpPr>
        <p:spPr>
          <a:xfrm>
            <a:off x="-243840" y="632388"/>
            <a:ext cx="1255776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5280"/>
              </a:lnSpc>
              <a:buNone/>
            </a:pPr>
            <a:r>
              <a:rPr lang="en-US" sz="3600" b="1" dirty="0">
                <a:solidFill>
                  <a:schemeClr val="bg2"/>
                </a:solidFill>
              </a:rPr>
              <a:t>ADERYN IMPACT INITIATIVE</a:t>
            </a:r>
          </a:p>
        </p:txBody>
      </p:sp>
      <p:sp>
        <p:nvSpPr>
          <p:cNvPr id="6" name="Text 4"/>
          <p:cNvSpPr/>
          <p:nvPr/>
        </p:nvSpPr>
        <p:spPr>
          <a:xfrm>
            <a:off x="0" y="2435985"/>
            <a:ext cx="12557760" cy="309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dirty="0">
                <a:solidFill>
                  <a:srgbClr val="CFE3D6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Stakeholder findings, engagement redesign and a pilot decision framework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2800" y="3272763"/>
            <a:ext cx="10688320" cy="2161679"/>
          </a:xfrm>
          <a:prstGeom prst="roundRect">
            <a:avLst>
              <a:gd name="adj" fmla="val 6400"/>
            </a:avLst>
          </a:prstGeom>
          <a:gradFill rotWithShape="1">
            <a:gsLst>
              <a:gs pos="0">
                <a:srgbClr val="F28C28"/>
              </a:gs>
              <a:gs pos="100000">
                <a:srgbClr val="F5B26B"/>
              </a:gs>
            </a:gsLst>
            <a:lin ang="2700000" scaled="0"/>
          </a:gradFill>
          <a:ln/>
        </p:spPr>
      </p:sp>
      <p:sp>
        <p:nvSpPr>
          <p:cNvPr id="16" name="Text 14"/>
          <p:cNvSpPr/>
          <p:nvPr/>
        </p:nvSpPr>
        <p:spPr>
          <a:xfrm>
            <a:off x="3159760" y="5657976"/>
            <a:ext cx="71945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Presented by </a:t>
            </a:r>
            <a:r>
              <a:rPr lang="en-US" sz="1300" b="1" dirty="0" err="1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Janada</a:t>
            </a:r>
            <a:r>
              <a:rPr lang="en-US" sz="13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</a:t>
            </a:r>
            <a:r>
              <a:rPr lang="en-US" sz="1300" b="1" dirty="0" err="1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Kefas</a:t>
            </a:r>
            <a:endParaRPr lang="en-US" sz="1300" dirty="0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81AA611-3408-D26D-3E85-A5C0C7E72F50}"/>
              </a:ext>
            </a:extLst>
          </p:cNvPr>
          <p:cNvSpPr txBox="1">
            <a:spLocks/>
          </p:cNvSpPr>
          <p:nvPr/>
        </p:nvSpPr>
        <p:spPr>
          <a:xfrm>
            <a:off x="-182880" y="1790799"/>
            <a:ext cx="1255776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ct val="0"/>
              </a:spcBef>
              <a:buNone/>
              <a:defRPr lang="en-US" sz="2800" kern="120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ctr">
              <a:lnSpc>
                <a:spcPts val="5280"/>
              </a:lnSpc>
            </a:pPr>
            <a:r>
              <a:rPr lang="en-US" sz="3600" b="1" i="0" dirty="0">
                <a:solidFill>
                  <a:srgbClr val="FBF6E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MORE TRUSTED RETURN TO KALLAH</a:t>
            </a:r>
            <a:endParaRPr lang="en-US" sz="3600" b="1" dirty="0">
              <a:solidFill>
                <a:schemeClr val="bg2"/>
              </a:solidFill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8BFB2446-71EE-B959-3051-3B76CAA31D8C}"/>
              </a:ext>
            </a:extLst>
          </p:cNvPr>
          <p:cNvSpPr/>
          <p:nvPr/>
        </p:nvSpPr>
        <p:spPr>
          <a:xfrm>
            <a:off x="3230880" y="6038932"/>
            <a:ext cx="719455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For Stakeholders of Aderyn Impact Initiative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38D7C60-2CE5-2D01-6937-4728527BC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3272762"/>
            <a:ext cx="4754880" cy="216168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F4E19E2-0C26-2F97-D19B-83B2B60ED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760" y="3272763"/>
            <a:ext cx="4754880" cy="216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8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gap is engagement quality, not attendance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Executive summary · attendee outcomes use n=130; reach uses n=200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8"/>
            <a:ext cx="2489200" cy="1981068"/>
          </a:xfrm>
          <a:prstGeom prst="roundRect">
            <a:avLst>
              <a:gd name="adj" fmla="val 7693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" y="2047148"/>
            <a:ext cx="2489200" cy="1981068"/>
          </a:xfrm>
          <a:custGeom>
            <a:avLst/>
            <a:gdLst/>
            <a:ahLst/>
            <a:cxnLst/>
            <a:rect l="l" t="t" r="r" b="b"/>
            <a:pathLst>
              <a:path w="2489200" h="1981068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339248"/>
            <a:ext cx="2092960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0B6B4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65.0%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041400" y="3017375"/>
            <a:ext cx="20929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Attendance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41400" y="3324689"/>
            <a:ext cx="226060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130 / 200 recorded people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05200" y="2047148"/>
            <a:ext cx="2489200" cy="1981068"/>
          </a:xfrm>
          <a:prstGeom prst="roundRect">
            <a:avLst>
              <a:gd name="adj" fmla="val 7693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05200" y="2047148"/>
            <a:ext cx="2489200" cy="1981068"/>
          </a:xfrm>
          <a:custGeom>
            <a:avLst/>
            <a:gdLst/>
            <a:ahLst/>
            <a:cxnLst/>
            <a:rect l="l" t="t" r="r" b="b"/>
            <a:pathLst>
              <a:path w="2489200" h="1981068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13" name="Text 11"/>
          <p:cNvSpPr/>
          <p:nvPr/>
        </p:nvSpPr>
        <p:spPr>
          <a:xfrm>
            <a:off x="3733800" y="2339248"/>
            <a:ext cx="2092960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D96D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28.5%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3733800" y="3017375"/>
            <a:ext cx="209296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understanding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733800" y="3324689"/>
            <a:ext cx="20929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37 / 130 attendees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7600" y="2047148"/>
            <a:ext cx="2489200" cy="1981068"/>
          </a:xfrm>
          <a:prstGeom prst="roundRect">
            <a:avLst>
              <a:gd name="adj" fmla="val 7693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97600" y="2047148"/>
            <a:ext cx="2489200" cy="1981068"/>
          </a:xfrm>
          <a:custGeom>
            <a:avLst/>
            <a:gdLst/>
            <a:ahLst/>
            <a:cxnLst/>
            <a:rect l="l" t="t" r="r" b="b"/>
            <a:pathLst>
              <a:path w="2489200" h="1981068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18" name="Text 16"/>
          <p:cNvSpPr/>
          <p:nvPr/>
        </p:nvSpPr>
        <p:spPr>
          <a:xfrm>
            <a:off x="6426200" y="2339248"/>
            <a:ext cx="2092960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D96D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19.2%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6426200" y="3017375"/>
            <a:ext cx="2260600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 / very high trust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6200" y="3324689"/>
            <a:ext cx="20929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25 / 130 attendees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890000" y="2047148"/>
            <a:ext cx="2489200" cy="1981068"/>
          </a:xfrm>
          <a:prstGeom prst="roundRect">
            <a:avLst>
              <a:gd name="adj" fmla="val 7693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890000" y="2047148"/>
            <a:ext cx="2489200" cy="1981068"/>
          </a:xfrm>
          <a:custGeom>
            <a:avLst/>
            <a:gdLst/>
            <a:ahLst/>
            <a:cxnLst/>
            <a:rect l="l" t="t" r="r" b="b"/>
            <a:pathLst>
              <a:path w="2489200" h="1981068">
                <a:moveTo>
                  <a:pt x="0" y="152400"/>
                </a:moveTo>
                <a:lnTo>
                  <a:pt x="0" y="152400"/>
                </a:lnTo>
                <a:arcTo wR="152400" hR="152400" stAng="10800000" swAng="5400000"/>
                <a:lnTo>
                  <a:pt x="2336800" y="0"/>
                </a:lnTo>
                <a:arcTo wR="152400" hR="152400" stAng="16200000" swAng="5400000"/>
                <a:lnTo>
                  <a:pt x="2489200" y="152400"/>
                </a:lnTo>
                <a:arcTo wR="152400" hR="88900" stAng="0" swAng="-5400000"/>
                <a:lnTo>
                  <a:pt x="152400" y="63500"/>
                </a:lnTo>
                <a:arcTo wR="152400" hR="88900" stAng="16200000" swAng="-5400000"/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23" name="Text 21"/>
          <p:cNvSpPr/>
          <p:nvPr/>
        </p:nvSpPr>
        <p:spPr>
          <a:xfrm>
            <a:off x="9118600" y="2339248"/>
            <a:ext cx="2092960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D96D00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24.6%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118600" y="3017375"/>
            <a:ext cx="2092960" cy="51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Meaningful participation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18600" y="3568502"/>
            <a:ext cx="209296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32 / 130 attendees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4256815"/>
            <a:ext cx="10883392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Priority: clarify the purpose in locally understood language, rebuild relationships with community representatives, and create safe opportunities for questions.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838200" y="5089856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16000" y="5127956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Meaningful participation = contributed to discussion or actively engaged; it is not a measure of sustained adoption.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8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English proficiency tracks understanding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understanding among attendees · descriptive relationship, not proof of language causation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8"/>
            <a:ext cx="6604000" cy="2491714"/>
          </a:xfrm>
          <a:prstGeom prst="roundRect">
            <a:avLst>
              <a:gd name="adj" fmla="val 7136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301148"/>
            <a:ext cx="62788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5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UNDERSTANDING, BY ENGLISH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3935" y="2693526"/>
            <a:ext cx="21583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Fluent (13/14)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89300" y="26910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0" name="Shape 8"/>
          <p:cNvSpPr/>
          <p:nvPr/>
        </p:nvSpPr>
        <p:spPr>
          <a:xfrm>
            <a:off x="3289300" y="26910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84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92.9%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3935" y="3138026"/>
            <a:ext cx="21583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Conversational (16/22)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89300" y="31355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4" name="Shape 12"/>
          <p:cNvSpPr/>
          <p:nvPr/>
        </p:nvSpPr>
        <p:spPr>
          <a:xfrm>
            <a:off x="3289300" y="31355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291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72.7%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03935" y="3582526"/>
            <a:ext cx="21583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Basic (8/45)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89300" y="35800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3289300" y="35800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73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17.8%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03935" y="4027026"/>
            <a:ext cx="2158365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None (0/49)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89300" y="4024511"/>
            <a:ext cx="2984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181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0.0%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620000" y="2047148"/>
            <a:ext cx="3759200" cy="2491714"/>
          </a:xfrm>
          <a:prstGeom prst="roundRect">
            <a:avLst>
              <a:gd name="adj" fmla="val 7136"/>
            </a:avLst>
          </a:prstGeom>
          <a:solidFill>
            <a:srgbClr val="0B4F3C"/>
          </a:solidFill>
          <a:ln/>
        </p:spPr>
      </p:sp>
      <p:sp>
        <p:nvSpPr>
          <p:cNvPr id="24" name="Text 22"/>
          <p:cNvSpPr/>
          <p:nvPr/>
        </p:nvSpPr>
        <p:spPr>
          <a:xfrm>
            <a:off x="7899400" y="2326548"/>
            <a:ext cx="32964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Design implication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7899400" y="2745648"/>
            <a:ext cx="32964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144 / 200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report no or basic English.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99400" y="3091061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94 of 130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attendees are in these groups.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899400" y="3667589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 translated explanations and teach-back before rollout.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38200" y="4767461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6000" y="4805561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Language spoken: Adara 94, Hausa 50, English 24, Gbagyi 19, Fulfulde 13. Confirm actual facilitation needs.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8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Understanding is associated with higher trust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 / very high trust among attendees, by understanding level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8"/>
            <a:ext cx="6604000" cy="2593181"/>
          </a:xfrm>
          <a:prstGeom prst="roundRect">
            <a:avLst>
              <a:gd name="adj" fmla="val 6856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301148"/>
            <a:ext cx="62788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5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 / VERY HIGH TRUST, BY UNDERSTANDING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2693526"/>
            <a:ext cx="1511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Clear (18/37)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54300" y="26910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0" name="Shape 8"/>
          <p:cNvSpPr/>
          <p:nvPr/>
        </p:nvSpPr>
        <p:spPr>
          <a:xfrm>
            <a:off x="2654300" y="26910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84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48.6%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6000" y="3138026"/>
            <a:ext cx="1511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Partial (5/63)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4300" y="31355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4" name="Shape 12"/>
          <p:cNvSpPr/>
          <p:nvPr/>
        </p:nvSpPr>
        <p:spPr>
          <a:xfrm>
            <a:off x="2654300" y="31355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291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7.9%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6000" y="3582526"/>
            <a:ext cx="15113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Limited (2/30)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654300" y="35800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2654300" y="3580011"/>
            <a:ext cx="36195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73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6.7%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620000" y="2047148"/>
            <a:ext cx="3759200" cy="2593181"/>
          </a:xfrm>
          <a:prstGeom prst="roundRect">
            <a:avLst>
              <a:gd name="adj" fmla="val 6856"/>
            </a:avLst>
          </a:prstGeom>
          <a:solidFill>
            <a:srgbClr val="0B4F3C"/>
          </a:solidFill>
          <a:ln/>
        </p:spPr>
      </p:sp>
      <p:sp>
        <p:nvSpPr>
          <p:cNvPr id="21" name="Text 19"/>
          <p:cNvSpPr/>
          <p:nvPr/>
        </p:nvSpPr>
        <p:spPr>
          <a:xfrm>
            <a:off x="7899400" y="2326548"/>
            <a:ext cx="32964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Trust remains fragile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899400" y="2745648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64 / 130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attendees report low or very low trust.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899400" y="3322176"/>
            <a:ext cx="3296412" cy="718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Even among 37 with clear understanding, only </a:t>
            </a: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18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report high trust.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899400" y="4129816"/>
            <a:ext cx="32964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Explanation alone may not be enough.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38200" y="4868929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6000" y="4907029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Working hypothesis: better communication plus relationship repair. Test both in the next pilot.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Low trust coincides with limited contribution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Meaningful participation among attendees, by trust level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9"/>
            <a:ext cx="6604000" cy="2936214"/>
          </a:xfrm>
          <a:prstGeom prst="roundRect">
            <a:avLst>
              <a:gd name="adj" fmla="val 6055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301149"/>
            <a:ext cx="62788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5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MEANINGFUL PARTICIPATION, BY TRUST LEVEL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16000" y="2693526"/>
            <a:ext cx="170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Very high (5/8)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44800" y="26910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0" name="Shape 8"/>
          <p:cNvSpPr/>
          <p:nvPr/>
        </p:nvSpPr>
        <p:spPr>
          <a:xfrm>
            <a:off x="2844800" y="26910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2684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62.5%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16000" y="3138026"/>
            <a:ext cx="170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High (12/17)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44800" y="31355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4" name="Shape 12"/>
          <p:cNvSpPr/>
          <p:nvPr/>
        </p:nvSpPr>
        <p:spPr>
          <a:xfrm>
            <a:off x="2844800" y="31355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1291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70.6%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6000" y="3582526"/>
            <a:ext cx="170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Moderate (15/41)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44800" y="35800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2844800" y="35800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3573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36.6%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16000" y="4027026"/>
            <a:ext cx="170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Low (0/37)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844800" y="40245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181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0.0%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016000" y="4471526"/>
            <a:ext cx="170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Very low (0/27)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844800" y="4469011"/>
            <a:ext cx="34290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4462661"/>
            <a:ext cx="812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0.0%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620000" y="2047149"/>
            <a:ext cx="3759200" cy="2936214"/>
          </a:xfrm>
          <a:prstGeom prst="roundRect">
            <a:avLst>
              <a:gd name="adj" fmla="val 6055"/>
            </a:avLst>
          </a:prstGeom>
          <a:solidFill>
            <a:srgbClr val="0B4F3C"/>
          </a:solidFill>
          <a:ln/>
        </p:spPr>
      </p:sp>
      <p:sp>
        <p:nvSpPr>
          <p:cNvPr id="27" name="Text 25"/>
          <p:cNvSpPr/>
          <p:nvPr/>
        </p:nvSpPr>
        <p:spPr>
          <a:xfrm>
            <a:off x="7899400" y="2326549"/>
            <a:ext cx="32964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Make room for voice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899400" y="2745649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32 / 130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contributed or were actively engaged.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99400" y="3322176"/>
            <a:ext cx="32964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72 / 130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observed or listened quietly.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99400" y="3667590"/>
            <a:ext cx="32964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26 / 130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asked one question.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99400" y="4013002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small groups and anonymous feedback.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38200" y="5211961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6000" y="5250061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Quiet participation can still be valuable. Do not pressure participants to speak or equate silence with failure.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8145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00233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077187"/>
            <a:ext cx="10883392" cy="3704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24"/>
              </a:lnSpc>
              <a:buNone/>
            </a:pPr>
            <a:r>
              <a:rPr lang="en-US" sz="2476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Barriers span language, explanation and reach</a:t>
            </a:r>
            <a:endParaRPr lang="en-US" sz="2476" dirty="0"/>
          </a:p>
        </p:txBody>
      </p:sp>
      <p:sp>
        <p:nvSpPr>
          <p:cNvPr id="5" name="Text 3"/>
          <p:cNvSpPr/>
          <p:nvPr/>
        </p:nvSpPr>
        <p:spPr>
          <a:xfrm>
            <a:off x="812800" y="1498402"/>
            <a:ext cx="10883392" cy="244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0"/>
              </a:lnSpc>
              <a:buNone/>
            </a:pPr>
            <a:r>
              <a:rPr lang="en-US" sz="1264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Main concerns · one recorded concern per person; n=200</a:t>
            </a:r>
            <a:endParaRPr lang="en-US" sz="1264" dirty="0"/>
          </a:p>
        </p:txBody>
      </p:sp>
      <p:sp>
        <p:nvSpPr>
          <p:cNvPr id="6" name="Shape 4"/>
          <p:cNvSpPr/>
          <p:nvPr/>
        </p:nvSpPr>
        <p:spPr>
          <a:xfrm>
            <a:off x="812800" y="1946542"/>
            <a:ext cx="6604000" cy="3390106"/>
          </a:xfrm>
          <a:prstGeom prst="roundRect">
            <a:avLst>
              <a:gd name="adj" fmla="val 5245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175142"/>
            <a:ext cx="6278880" cy="2291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158" b="1" kern="0" spc="5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RECORDED PEOPLE, BY MAIN CONCERN</a:t>
            </a:r>
            <a:endParaRPr lang="en-US" sz="1158" dirty="0"/>
          </a:p>
        </p:txBody>
      </p:sp>
      <p:sp>
        <p:nvSpPr>
          <p:cNvPr id="8" name="Text 6"/>
          <p:cNvSpPr/>
          <p:nvPr/>
        </p:nvSpPr>
        <p:spPr>
          <a:xfrm>
            <a:off x="977265" y="2495420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Language barrier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78300" y="2522010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0" name="Shape 8"/>
          <p:cNvSpPr/>
          <p:nvPr/>
        </p:nvSpPr>
        <p:spPr>
          <a:xfrm>
            <a:off x="4178300" y="2522010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1" name="Text 9"/>
          <p:cNvSpPr/>
          <p:nvPr/>
        </p:nvSpPr>
        <p:spPr>
          <a:xfrm>
            <a:off x="6781800" y="2486490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36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7265" y="2794397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Need for clearer purpose explanation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78300" y="2821056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4" name="Shape 12"/>
          <p:cNvSpPr/>
          <p:nvPr/>
        </p:nvSpPr>
        <p:spPr>
          <a:xfrm>
            <a:off x="4178300" y="2821056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5" name="Text 13"/>
          <p:cNvSpPr/>
          <p:nvPr/>
        </p:nvSpPr>
        <p:spPr>
          <a:xfrm>
            <a:off x="6781800" y="2785535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77265" y="3093442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Did not hear about programme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78300" y="3120033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178300" y="3120033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9" name="Text 17"/>
          <p:cNvSpPr/>
          <p:nvPr/>
        </p:nvSpPr>
        <p:spPr>
          <a:xfrm>
            <a:off x="6781800" y="3084513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77265" y="3392422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Need for elder engagement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78300" y="3419078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2" name="Shape 20"/>
          <p:cNvSpPr/>
          <p:nvPr/>
        </p:nvSpPr>
        <p:spPr>
          <a:xfrm>
            <a:off x="4178300" y="3419078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23" name="Text 21"/>
          <p:cNvSpPr/>
          <p:nvPr/>
        </p:nvSpPr>
        <p:spPr>
          <a:xfrm>
            <a:off x="6781800" y="3383558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7265" y="3691468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Household/time constraints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78300" y="3718058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6" name="Shape 24"/>
          <p:cNvSpPr/>
          <p:nvPr/>
        </p:nvSpPr>
        <p:spPr>
          <a:xfrm>
            <a:off x="4178300" y="3718058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27" name="Text 25"/>
          <p:cNvSpPr/>
          <p:nvPr/>
        </p:nvSpPr>
        <p:spPr>
          <a:xfrm>
            <a:off x="6781800" y="3682538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77265" y="3990448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 major concern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178300" y="4017104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30" name="Shape 28"/>
          <p:cNvSpPr/>
          <p:nvPr/>
        </p:nvSpPr>
        <p:spPr>
          <a:xfrm>
            <a:off x="4178300" y="4017104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31" name="Text 29"/>
          <p:cNvSpPr/>
          <p:nvPr/>
        </p:nvSpPr>
        <p:spPr>
          <a:xfrm>
            <a:off x="6781800" y="3981583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17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77265" y="4289493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Insufficient prior information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178300" y="4316084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34" name="Shape 32"/>
          <p:cNvSpPr/>
          <p:nvPr/>
        </p:nvSpPr>
        <p:spPr>
          <a:xfrm>
            <a:off x="4178300" y="4316084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35" name="Text 33"/>
          <p:cNvSpPr/>
          <p:nvPr/>
        </p:nvSpPr>
        <p:spPr>
          <a:xfrm>
            <a:off x="6781800" y="4280564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77265" y="4588470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Limited time for questions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178300" y="4615129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38" name="Shape 36"/>
          <p:cNvSpPr/>
          <p:nvPr/>
        </p:nvSpPr>
        <p:spPr>
          <a:xfrm>
            <a:off x="4178300" y="4615129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39" name="Text 37"/>
          <p:cNvSpPr/>
          <p:nvPr/>
        </p:nvSpPr>
        <p:spPr>
          <a:xfrm>
            <a:off x="6781800" y="4579609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14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77265" y="4887451"/>
            <a:ext cx="3074035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820"/>
              </a:lnSpc>
              <a:buNone/>
            </a:pPr>
            <a:r>
              <a:rPr lang="en-US" sz="13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Concern about programme purpose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178300" y="4914106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42" name="Shape 40"/>
          <p:cNvSpPr/>
          <p:nvPr/>
        </p:nvSpPr>
        <p:spPr>
          <a:xfrm>
            <a:off x="4178300" y="4914106"/>
            <a:ext cx="2476500" cy="1778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43" name="Text 41"/>
          <p:cNvSpPr/>
          <p:nvPr/>
        </p:nvSpPr>
        <p:spPr>
          <a:xfrm>
            <a:off x="6781800" y="4878586"/>
            <a:ext cx="43180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7620000" y="1946542"/>
            <a:ext cx="3759200" cy="3390106"/>
          </a:xfrm>
          <a:prstGeom prst="roundRect">
            <a:avLst>
              <a:gd name="adj" fmla="val 5245"/>
            </a:avLst>
          </a:prstGeom>
          <a:solidFill>
            <a:srgbClr val="0B4F3C"/>
          </a:solidFill>
          <a:ln/>
        </p:spPr>
      </p:sp>
      <p:sp>
        <p:nvSpPr>
          <p:cNvPr id="45" name="Text 43"/>
          <p:cNvSpPr/>
          <p:nvPr/>
        </p:nvSpPr>
        <p:spPr>
          <a:xfrm>
            <a:off x="7899400" y="2225942"/>
            <a:ext cx="32964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Non-attendee barriers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7899400" y="2632342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32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8483600" y="2694583"/>
            <a:ext cx="26946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did not hear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7899400" y="3089542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14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8483600" y="3151783"/>
            <a:ext cx="26946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insufficient prior information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899400" y="3546742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8483600" y="3608983"/>
            <a:ext cx="26946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purpose concern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99400" y="4003942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</a:t>
            </a:r>
            <a:endParaRPr lang="en-US" sz="2000" dirty="0"/>
          </a:p>
        </p:txBody>
      </p:sp>
      <p:sp>
        <p:nvSpPr>
          <p:cNvPr id="53" name="Text 51"/>
          <p:cNvSpPr/>
          <p:nvPr/>
        </p:nvSpPr>
        <p:spPr>
          <a:xfrm>
            <a:off x="8483600" y="4066183"/>
            <a:ext cx="26946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household / time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899400" y="4461142"/>
            <a:ext cx="533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8483600" y="4523383"/>
            <a:ext cx="2694686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language barrier</a:t>
            </a:r>
            <a:endParaRPr lang="en-US" sz="1400" dirty="0"/>
          </a:p>
        </p:txBody>
      </p:sp>
      <p:sp>
        <p:nvSpPr>
          <p:cNvPr id="56" name="Shape 54"/>
          <p:cNvSpPr/>
          <p:nvPr/>
        </p:nvSpPr>
        <p:spPr>
          <a:xfrm>
            <a:off x="838200" y="5565248"/>
            <a:ext cx="0" cy="276754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16000" y="5603348"/>
            <a:ext cx="10674096" cy="225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3"/>
              </a:lnSpc>
              <a:buNone/>
            </a:pPr>
            <a:r>
              <a:rPr lang="en-US" sz="1203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“Brainwashing” is from the supplied narrative; the dataset records broader purpose concerns, not that exact belief.</a:t>
            </a:r>
            <a:endParaRPr lang="en-US" sz="1203" dirty="0"/>
          </a:p>
        </p:txBody>
      </p:sp>
      <p:sp>
        <p:nvSpPr>
          <p:cNvPr id="58" name="Text 56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Local meetings preferred, return not assured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Communication preferences and follow-up intentions · all 200 recorded people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9"/>
            <a:ext cx="6604000" cy="2936214"/>
          </a:xfrm>
          <a:prstGeom prst="roundRect">
            <a:avLst>
              <a:gd name="adj" fmla="val 6055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66800" y="2301149"/>
            <a:ext cx="627888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5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PREFERRED WAY TO BE REACHED (PEOPLE)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5360" y="2693526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Local-language community meeting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41800" y="2691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0" name="Shape 8"/>
          <p:cNvSpPr/>
          <p:nvPr/>
        </p:nvSpPr>
        <p:spPr>
          <a:xfrm>
            <a:off x="4241800" y="2691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1" name="Text 9"/>
          <p:cNvSpPr/>
          <p:nvPr/>
        </p:nvSpPr>
        <p:spPr>
          <a:xfrm>
            <a:off x="6718300" y="2684661"/>
            <a:ext cx="49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67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75360" y="3138026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Women’s group meeting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41800" y="31355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4" name="Shape 12"/>
          <p:cNvSpPr/>
          <p:nvPr/>
        </p:nvSpPr>
        <p:spPr>
          <a:xfrm>
            <a:off x="4241800" y="31355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15" name="Text 13"/>
          <p:cNvSpPr/>
          <p:nvPr/>
        </p:nvSpPr>
        <p:spPr>
          <a:xfrm>
            <a:off x="6718300" y="3129161"/>
            <a:ext cx="49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59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75360" y="3582526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School-based session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241800" y="3580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41800" y="3580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19" name="Text 17"/>
          <p:cNvSpPr/>
          <p:nvPr/>
        </p:nvSpPr>
        <p:spPr>
          <a:xfrm>
            <a:off x="6718300" y="3573661"/>
            <a:ext cx="49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34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75360" y="4027026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Home/compound visit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241800" y="40245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2" name="Shape 20"/>
          <p:cNvSpPr/>
          <p:nvPr/>
        </p:nvSpPr>
        <p:spPr>
          <a:xfrm>
            <a:off x="4241800" y="40245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23" name="Text 21"/>
          <p:cNvSpPr/>
          <p:nvPr/>
        </p:nvSpPr>
        <p:spPr>
          <a:xfrm>
            <a:off x="6718300" y="4018161"/>
            <a:ext cx="49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75360" y="4471526"/>
            <a:ext cx="313944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96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Radio announcement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41800" y="4469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E1ECE4"/>
          </a:solidFill>
          <a:ln/>
        </p:spPr>
      </p:sp>
      <p:sp>
        <p:nvSpPr>
          <p:cNvPr id="26" name="Shape 24"/>
          <p:cNvSpPr/>
          <p:nvPr/>
        </p:nvSpPr>
        <p:spPr>
          <a:xfrm>
            <a:off x="4241800" y="4469011"/>
            <a:ext cx="2349500" cy="254000"/>
          </a:xfrm>
          <a:prstGeom prst="roundRect">
            <a:avLst>
              <a:gd name="adj" fmla="val 50000"/>
            </a:avLst>
          </a:prstGeom>
          <a:solidFill>
            <a:srgbClr val="0F6B50"/>
          </a:solidFill>
          <a:ln/>
        </p:spPr>
      </p:sp>
      <p:sp>
        <p:nvSpPr>
          <p:cNvPr id="27" name="Text 25"/>
          <p:cNvSpPr/>
          <p:nvPr/>
        </p:nvSpPr>
        <p:spPr>
          <a:xfrm>
            <a:off x="6718300" y="4462661"/>
            <a:ext cx="4953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16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7620000" y="2047149"/>
            <a:ext cx="3759200" cy="2936214"/>
          </a:xfrm>
          <a:prstGeom prst="roundRect">
            <a:avLst>
              <a:gd name="adj" fmla="val 6055"/>
            </a:avLst>
          </a:prstGeom>
          <a:solidFill>
            <a:srgbClr val="0B4F3C"/>
          </a:solidFill>
          <a:ln/>
        </p:spPr>
      </p:sp>
      <p:sp>
        <p:nvSpPr>
          <p:cNvPr id="29" name="Text 27"/>
          <p:cNvSpPr/>
          <p:nvPr/>
        </p:nvSpPr>
        <p:spPr>
          <a:xfrm>
            <a:off x="7899400" y="2326549"/>
            <a:ext cx="3296412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Follow-up willingness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899400" y="2745649"/>
            <a:ext cx="1008129" cy="254000"/>
          </a:xfrm>
          <a:custGeom>
            <a:avLst/>
            <a:gdLst/>
            <a:ahLst/>
            <a:cxnLst/>
            <a:rect l="l" t="t" r="r" b="b"/>
            <a:pathLst>
              <a:path w="1008129" h="254000">
                <a:moveTo>
                  <a:pt x="0" y="127000"/>
                </a:moveTo>
                <a:arcTo wR="127000" hR="127000" stAng="10800000" swAng="5400000"/>
                <a:lnTo>
                  <a:pt x="1008129" y="0"/>
                </a:lnTo>
                <a:lnTo>
                  <a:pt x="1008129" y="254000"/>
                </a:lnTo>
                <a:lnTo>
                  <a:pt x="127000" y="254000"/>
                </a:lnTo>
                <a:arcTo wR="127000" hR="127000" stAng="5400000" swAng="5400000"/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31" name="Shape 29"/>
          <p:cNvSpPr/>
          <p:nvPr/>
        </p:nvSpPr>
        <p:spPr>
          <a:xfrm>
            <a:off x="8907529" y="2745649"/>
            <a:ext cx="992121" cy="254000"/>
          </a:xfrm>
          <a:prstGeom prst="rect">
            <a:avLst/>
          </a:prstGeom>
          <a:solidFill>
            <a:srgbClr val="CFE3D6"/>
          </a:solidFill>
          <a:ln/>
        </p:spPr>
      </p:sp>
      <p:sp>
        <p:nvSpPr>
          <p:cNvPr id="32" name="Shape 30"/>
          <p:cNvSpPr/>
          <p:nvPr/>
        </p:nvSpPr>
        <p:spPr>
          <a:xfrm>
            <a:off x="9899650" y="2745649"/>
            <a:ext cx="1200150" cy="254000"/>
          </a:xfrm>
          <a:custGeom>
            <a:avLst/>
            <a:gdLst/>
            <a:ahLst/>
            <a:cxnLst/>
            <a:rect l="l" t="t" r="r" b="b"/>
            <a:pathLst>
              <a:path w="1200150" h="254000">
                <a:moveTo>
                  <a:pt x="1073150" y="0"/>
                </a:moveTo>
                <a:arcTo wR="127000" hR="127000" stAng="16200000" swAng="5400000"/>
                <a:lnTo>
                  <a:pt x="1200150" y="127000"/>
                </a:lnTo>
                <a:arcTo wR="127000" hR="127000" stAng="0" swAng="5400000"/>
                <a:lnTo>
                  <a:pt x="0" y="254000"/>
                </a:lnTo>
                <a:lnTo>
                  <a:pt x="0" y="0"/>
                </a:lnTo>
                <a:close/>
              </a:path>
            </a:pathLst>
          </a:custGeom>
          <a:solidFill>
            <a:srgbClr val="3F8A6E"/>
          </a:solidFill>
          <a:ln/>
        </p:spPr>
      </p:sp>
      <p:sp>
        <p:nvSpPr>
          <p:cNvPr id="33" name="Shape 31"/>
          <p:cNvSpPr/>
          <p:nvPr/>
        </p:nvSpPr>
        <p:spPr>
          <a:xfrm>
            <a:off x="7899400" y="3153305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4" name="Text 32"/>
          <p:cNvSpPr/>
          <p:nvPr/>
        </p:nvSpPr>
        <p:spPr>
          <a:xfrm>
            <a:off x="8140700" y="3113949"/>
            <a:ext cx="304787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Yes: 63 / 200 · 31.5%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899400" y="3498720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CFE3D6"/>
          </a:solidFill>
          <a:ln/>
        </p:spPr>
      </p:sp>
      <p:sp>
        <p:nvSpPr>
          <p:cNvPr id="36" name="Text 34"/>
          <p:cNvSpPr/>
          <p:nvPr/>
        </p:nvSpPr>
        <p:spPr>
          <a:xfrm>
            <a:off x="8140700" y="3459361"/>
            <a:ext cx="304787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Maybe: 62 / 200 · 31.0%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7899400" y="3844131"/>
            <a:ext cx="152400" cy="152400"/>
          </a:xfrm>
          <a:prstGeom prst="roundRect">
            <a:avLst>
              <a:gd name="adj" fmla="val 50000"/>
            </a:avLst>
          </a:prstGeom>
          <a:solidFill>
            <a:srgbClr val="3F8A6E"/>
          </a:solidFill>
          <a:ln/>
        </p:spPr>
      </p:sp>
      <p:sp>
        <p:nvSpPr>
          <p:cNvPr id="38" name="Text 36"/>
          <p:cNvSpPr/>
          <p:nvPr/>
        </p:nvSpPr>
        <p:spPr>
          <a:xfrm>
            <a:off x="8140700" y="3804776"/>
            <a:ext cx="304787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No: 75 / 200 · 37.5%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899400" y="4150190"/>
            <a:ext cx="32964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Mean satisfaction: </a:t>
            </a:r>
            <a:r>
              <a:rPr lang="en-US" sz="1400" b="1" dirty="0">
                <a:solidFill>
                  <a:srgbClr val="F5A04A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2.52 / 5</a:t>
            </a: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among 130 rated attendees.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8200" y="5211961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16000" y="5250061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126 / 200 prefer local-language or women’s group meetings. “Maybe” is an opportunity to listen, not a commitment.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Redesign outreach as relationship-building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Proposed intervention logic · to be validated with the community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9"/>
            <a:ext cx="3386667" cy="2344275"/>
          </a:xfrm>
          <a:prstGeom prst="roundRect">
            <a:avLst>
              <a:gd name="adj" fmla="val 7584"/>
            </a:avLst>
          </a:prstGeom>
          <a:solidFill>
            <a:srgbClr val="0B4F3C"/>
          </a:solidFill>
          <a:ln/>
        </p:spPr>
      </p:sp>
      <p:pic>
        <p:nvPicPr>
          <p:cNvPr id="7" name="Image 0" descr="Use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301149"/>
            <a:ext cx="304800" cy="30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66800" y="2694849"/>
            <a:ext cx="296502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/ Relationships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66800" y="3035170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Meet elders and gatekeepers.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66800" y="3355181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Consult women and girls directly.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66800" y="3675196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Clarify purpose and concerns.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402667" y="2047149"/>
            <a:ext cx="3386667" cy="2344275"/>
          </a:xfrm>
          <a:prstGeom prst="roundRect">
            <a:avLst>
              <a:gd name="adj" fmla="val 7584"/>
            </a:avLst>
          </a:prstGeom>
          <a:solidFill>
            <a:srgbClr val="F28C28"/>
          </a:solidFill>
          <a:ln/>
        </p:spPr>
      </p:sp>
      <p:pic>
        <p:nvPicPr>
          <p:cNvPr id="13" name="Image 1" descr="Cha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56667" y="2301149"/>
            <a:ext cx="304800" cy="304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56667" y="2694849"/>
            <a:ext cx="296502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/ Communication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656667" y="3035170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Recruit local-language facilitators.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656667" y="3355181"/>
            <a:ext cx="2965027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Test the message through teach-back.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656667" y="3906310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Use trusted local channels.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992534" y="2047149"/>
            <a:ext cx="3386667" cy="2344275"/>
          </a:xfrm>
          <a:prstGeom prst="roundRect">
            <a:avLst>
              <a:gd name="adj" fmla="val 7584"/>
            </a:avLst>
          </a:prstGeom>
          <a:solidFill>
            <a:srgbClr val="0B4F3C"/>
          </a:solidFill>
          <a:ln/>
        </p:spPr>
      </p:sp>
      <p:pic>
        <p:nvPicPr>
          <p:cNvPr id="19" name="Image 2" descr="Lightbulb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246534" y="2301149"/>
            <a:ext cx="304800" cy="304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46534" y="2694849"/>
            <a:ext cx="2965027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/ Experience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246534" y="3035170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Small, voluntary group sessions.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246534" y="3355181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More questions and feedback.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8246534" y="3675196"/>
            <a:ext cx="2965027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4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Consent-based follow-through.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812800" y="4632393"/>
            <a:ext cx="4299744" cy="384175"/>
          </a:xfrm>
          <a:prstGeom prst="roundRect">
            <a:avLst>
              <a:gd name="adj" fmla="val 50000"/>
            </a:avLst>
          </a:prstGeom>
          <a:solidFill>
            <a:srgbClr val="0B4F3C"/>
          </a:solidFill>
          <a:ln/>
        </p:spPr>
        <p:txBody>
          <a:bodyPr wrap="square" lIns="36215" tIns="32639" rIns="36215" bIns="7239" rtlCol="0" anchor="t">
            <a:normAutofit/>
          </a:bodyPr>
          <a:lstStyle/>
          <a:p>
            <a:pPr marL="0" indent="0" algn="ctr">
              <a:lnSpc>
                <a:spcPts val="1625"/>
              </a:lnSpc>
              <a:buNone/>
            </a:pPr>
            <a:r>
              <a:rPr lang="en-US" sz="1300" b="1" dirty="0">
                <a:solidFill>
                  <a:srgbClr val="FBF6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Accessible explanation + trusted relationships</a:t>
            </a:r>
            <a:endParaRPr lang="en-US" sz="1300" dirty="0"/>
          </a:p>
        </p:txBody>
      </p:sp>
      <p:pic>
        <p:nvPicPr>
          <p:cNvPr id="25" name="Image 3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201444" y="4741931"/>
            <a:ext cx="279400" cy="1651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69744" y="4620022"/>
            <a:ext cx="1443170" cy="40891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Understanding</a:t>
            </a:r>
            <a:endParaRPr lang="en-US" sz="1300" dirty="0"/>
          </a:p>
        </p:txBody>
      </p:sp>
      <p:pic>
        <p:nvPicPr>
          <p:cNvPr id="27" name="Image 4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101814" y="4741931"/>
            <a:ext cx="279400" cy="16510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70114" y="4620022"/>
            <a:ext cx="697905" cy="40891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Trust</a:t>
            </a:r>
            <a:endParaRPr lang="en-US" sz="1300" dirty="0"/>
          </a:p>
        </p:txBody>
      </p:sp>
      <p:pic>
        <p:nvPicPr>
          <p:cNvPr id="29" name="Image 5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256918" y="4741931"/>
            <a:ext cx="279400" cy="1651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625218" y="4620022"/>
            <a:ext cx="1280385" cy="408914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Participation</a:t>
            </a:r>
            <a:endParaRPr lang="en-US" sz="1300" dirty="0"/>
          </a:p>
        </p:txBody>
      </p:sp>
      <p:pic>
        <p:nvPicPr>
          <p:cNvPr id="31" name="Image 6" descr="arrow-righ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994503" y="4741931"/>
            <a:ext cx="279400" cy="1651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0362803" y="4620022"/>
            <a:ext cx="1016397" cy="408914"/>
          </a:xfrm>
          <a:prstGeom prst="roundRect">
            <a:avLst>
              <a:gd name="adj" fmla="val 50000"/>
            </a:avLst>
          </a:prstGeom>
          <a:solidFill>
            <a:srgbClr val="0B4F3C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BF6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Adoption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phased return with named accountability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Illustrative eight-week plan · relative to approval, not a scheduled outreach date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9"/>
            <a:ext cx="2489200" cy="2400035"/>
          </a:xfrm>
          <a:prstGeom prst="roundRect">
            <a:avLst>
              <a:gd name="adj" fmla="val 7408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" y="2047149"/>
            <a:ext cx="2489200" cy="932127"/>
          </a:xfrm>
          <a:custGeom>
            <a:avLst/>
            <a:gdLst/>
            <a:ahLst/>
            <a:cxnLst/>
            <a:rect l="l" t="t" r="r" b="b"/>
            <a:pathLst>
              <a:path w="2489200" h="932127">
                <a:moveTo>
                  <a:pt x="0" y="177800"/>
                </a:moveTo>
                <a:arcTo wR="177800" hR="177800" stAng="10800000" swAng="5400000"/>
                <a:lnTo>
                  <a:pt x="2311400" y="0"/>
                </a:lnTo>
                <a:arcTo wR="177800" hR="177800" stAng="16200000" swAng="5400000"/>
                <a:lnTo>
                  <a:pt x="2489200" y="932127"/>
                </a:lnTo>
                <a:lnTo>
                  <a:pt x="0" y="932127"/>
                </a:lnTo>
                <a:close/>
              </a:path>
            </a:pathLst>
          </a:custGeom>
          <a:solidFill>
            <a:srgbClr val="0B4F3C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2224949"/>
            <a:ext cx="20929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Weeks 1–2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41400" y="2552570"/>
            <a:ext cx="20929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6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Programme lead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41400" y="3182479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Listen and map stakeholders.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1400" y="3764031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Agree purpose, concerns and feedback routes.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05200" y="2047149"/>
            <a:ext cx="2489200" cy="2400035"/>
          </a:xfrm>
          <a:prstGeom prst="roundRect">
            <a:avLst>
              <a:gd name="adj" fmla="val 7408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05200" y="2047149"/>
            <a:ext cx="2489200" cy="932127"/>
          </a:xfrm>
          <a:custGeom>
            <a:avLst/>
            <a:gdLst/>
            <a:ahLst/>
            <a:cxnLst/>
            <a:rect l="l" t="t" r="r" b="b"/>
            <a:pathLst>
              <a:path w="2489200" h="932127">
                <a:moveTo>
                  <a:pt x="0" y="177800"/>
                </a:moveTo>
                <a:arcTo wR="177800" hR="177800" stAng="10800000" swAng="5400000"/>
                <a:lnTo>
                  <a:pt x="2311400" y="0"/>
                </a:lnTo>
                <a:arcTo wR="177800" hR="177800" stAng="16200000" swAng="5400000"/>
                <a:lnTo>
                  <a:pt x="2489200" y="932127"/>
                </a:lnTo>
                <a:lnTo>
                  <a:pt x="0" y="932127"/>
                </a:lnTo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14" name="Text 12"/>
          <p:cNvSpPr/>
          <p:nvPr/>
        </p:nvSpPr>
        <p:spPr>
          <a:xfrm>
            <a:off x="3733800" y="2224949"/>
            <a:ext cx="20929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Weeks 2–3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733800" y="2552570"/>
            <a:ext cx="20929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Engagement lead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733800" y="3182479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Recruit language facilitators.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33800" y="3764031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Co-design messages, time and venue.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97600" y="2047149"/>
            <a:ext cx="2489200" cy="2400035"/>
          </a:xfrm>
          <a:prstGeom prst="roundRect">
            <a:avLst>
              <a:gd name="adj" fmla="val 7408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97600" y="2047149"/>
            <a:ext cx="2489200" cy="932127"/>
          </a:xfrm>
          <a:custGeom>
            <a:avLst/>
            <a:gdLst/>
            <a:ahLst/>
            <a:cxnLst/>
            <a:rect l="l" t="t" r="r" b="b"/>
            <a:pathLst>
              <a:path w="2489200" h="932127">
                <a:moveTo>
                  <a:pt x="0" y="177800"/>
                </a:moveTo>
                <a:arcTo wR="177800" hR="177800" stAng="10800000" swAng="5400000"/>
                <a:lnTo>
                  <a:pt x="2311400" y="0"/>
                </a:lnTo>
                <a:arcTo wR="177800" hR="177800" stAng="16200000" swAng="5400000"/>
                <a:lnTo>
                  <a:pt x="2489200" y="932127"/>
                </a:lnTo>
                <a:lnTo>
                  <a:pt x="0" y="932127"/>
                </a:lnTo>
                <a:close/>
              </a:path>
            </a:pathLst>
          </a:custGeom>
          <a:solidFill>
            <a:srgbClr val="0B4F3C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200" y="2224949"/>
            <a:ext cx="20929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Week 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26200" y="2552570"/>
            <a:ext cx="20929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BF6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Facilitators + M&amp;E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26200" y="3182479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Run an opt-in small-group pilot.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6200" y="3764031"/>
            <a:ext cx="2092960" cy="505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Check understanding, trust and safety.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890000" y="2047149"/>
            <a:ext cx="2489200" cy="2400035"/>
          </a:xfrm>
          <a:prstGeom prst="roundRect">
            <a:avLst>
              <a:gd name="adj" fmla="val 7408"/>
            </a:avLst>
          </a:prstGeom>
          <a:solidFill>
            <a:srgbClr val="FFFDF8"/>
          </a:solidFill>
          <a:ln/>
          <a:effectLst>
            <a:outerShdw blurRad="152400" dist="50800" dir="5400000" algn="bl" rotWithShape="0">
              <a:srgbClr val="0B4F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890000" y="2047149"/>
            <a:ext cx="2489200" cy="932127"/>
          </a:xfrm>
          <a:custGeom>
            <a:avLst/>
            <a:gdLst/>
            <a:ahLst/>
            <a:cxnLst/>
            <a:rect l="l" t="t" r="r" b="b"/>
            <a:pathLst>
              <a:path w="2489200" h="932127">
                <a:moveTo>
                  <a:pt x="0" y="177800"/>
                </a:moveTo>
                <a:arcTo wR="177800" hR="177800" stAng="10800000" swAng="5400000"/>
                <a:lnTo>
                  <a:pt x="2311400" y="0"/>
                </a:lnTo>
                <a:arcTo wR="177800" hR="177800" stAng="16200000" swAng="5400000"/>
                <a:lnTo>
                  <a:pt x="2489200" y="932127"/>
                </a:lnTo>
                <a:lnTo>
                  <a:pt x="0" y="932127"/>
                </a:lnTo>
                <a:close/>
              </a:path>
            </a:pathLst>
          </a:custGeom>
          <a:solidFill>
            <a:srgbClr val="F28C28"/>
          </a:solidFill>
          <a:ln/>
        </p:spPr>
      </p:sp>
      <p:sp>
        <p:nvSpPr>
          <p:cNvPr id="26" name="Text 24"/>
          <p:cNvSpPr/>
          <p:nvPr/>
        </p:nvSpPr>
        <p:spPr>
          <a:xfrm>
            <a:off x="9118600" y="2224949"/>
            <a:ext cx="2092960" cy="31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80"/>
              </a:lnSpc>
              <a:buNone/>
            </a:pPr>
            <a:r>
              <a:rPr lang="en-US" sz="1900" b="1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Weeks 5–8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118600" y="2552570"/>
            <a:ext cx="2092960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M&amp;E lead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18600" y="3182479"/>
            <a:ext cx="2092960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Follow up with consent.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118600" y="3524052"/>
            <a:ext cx="2092960" cy="745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Review repeat attendance and relevant referrals.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38200" y="4675783"/>
            <a:ext cx="0" cy="299045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6000" y="4713883"/>
            <a:ext cx="10674096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Resource needs: local facilitation, interpretation, travel, safeguarding and follow-up. Budget data is not supplied.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894029"/>
            <a:ext cx="355600" cy="50800"/>
          </a:xfrm>
          <a:prstGeom prst="roundRect">
            <a:avLst>
              <a:gd name="adj" fmla="val 50000"/>
            </a:avLst>
          </a:prstGeom>
          <a:solidFill>
            <a:srgbClr val="F28C28"/>
          </a:solidFill>
          <a:ln/>
        </p:spPr>
      </p:sp>
      <p:sp>
        <p:nvSpPr>
          <p:cNvPr id="3" name="Text 1"/>
          <p:cNvSpPr/>
          <p:nvPr/>
        </p:nvSpPr>
        <p:spPr>
          <a:xfrm>
            <a:off x="1270000" y="812800"/>
            <a:ext cx="438515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50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AII / COMMUNITY ENGAGEMENT REVIEW</a:t>
            </a:r>
            <a:endParaRPr lang="en-US" sz="12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0232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i="0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Decision: pilot first, then scale or modify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1569641"/>
            <a:ext cx="10883392" cy="27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Approval should include accountability and a learning checkpoint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047149"/>
            <a:ext cx="5181600" cy="2538677"/>
          </a:xfrm>
          <a:prstGeom prst="roundRect">
            <a:avLst>
              <a:gd name="adj" fmla="val 7004"/>
            </a:avLst>
          </a:prstGeom>
          <a:solidFill>
            <a:srgbClr val="0B4F3C"/>
          </a:solidFill>
          <a:ln/>
        </p:spPr>
      </p:sp>
      <p:sp>
        <p:nvSpPr>
          <p:cNvPr id="7" name="Text 5"/>
          <p:cNvSpPr/>
          <p:nvPr/>
        </p:nvSpPr>
        <p:spPr>
          <a:xfrm>
            <a:off x="1066800" y="2301149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5A04A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Approve now</a:t>
            </a:r>
            <a:endParaRPr lang="en-US" sz="2200" dirty="0"/>
          </a:p>
        </p:txBody>
      </p:sp>
      <p:pic>
        <p:nvPicPr>
          <p:cNvPr id="8" name="Image 0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2750679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97000" y="2750679"/>
            <a:ext cx="44737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listening and co-design phase.</a:t>
            </a:r>
            <a:endParaRPr lang="en-US" sz="1500" dirty="0"/>
          </a:p>
        </p:txBody>
      </p:sp>
      <p:pic>
        <p:nvPicPr>
          <p:cNvPr id="10" name="Image 1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3112629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97000" y="3112629"/>
            <a:ext cx="447370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Local-language facilitation and safeguarding resources.</a:t>
            </a:r>
            <a:endParaRPr lang="en-US" sz="1500" dirty="0"/>
          </a:p>
        </p:txBody>
      </p:sp>
      <p:pic>
        <p:nvPicPr>
          <p:cNvPr id="12" name="Image 2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3722229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97000" y="3722229"/>
            <a:ext cx="459740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An accountable programme lead and M&amp;E owner.</a:t>
            </a:r>
            <a:endParaRPr lang="en-US" sz="1500" dirty="0"/>
          </a:p>
        </p:txBody>
      </p:sp>
      <p:pic>
        <p:nvPicPr>
          <p:cNvPr id="14" name="Image 3" descr="Check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6800" y="4084179"/>
            <a:ext cx="2286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97000" y="4084179"/>
            <a:ext cx="44737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AF3E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small pilot with agreed evaluation criteria.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6197600" y="2047149"/>
            <a:ext cx="5181600" cy="2538677"/>
          </a:xfrm>
          <a:prstGeom prst="roundRect">
            <a:avLst>
              <a:gd name="adj" fmla="val 7004"/>
            </a:avLst>
          </a:prstGeom>
          <a:solidFill>
            <a:srgbClr val="F28C28"/>
          </a:solidFill>
          <a:ln/>
        </p:spPr>
      </p:sp>
      <p:sp>
        <p:nvSpPr>
          <p:cNvPr id="17" name="Text 11"/>
          <p:cNvSpPr/>
          <p:nvPr/>
        </p:nvSpPr>
        <p:spPr>
          <a:xfrm>
            <a:off x="6451600" y="2301149"/>
            <a:ext cx="4813808" cy="360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B4F3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Require before wider rollout</a:t>
            </a:r>
            <a:endParaRPr lang="en-US" sz="2200" dirty="0"/>
          </a:p>
        </p:txBody>
      </p:sp>
      <p:pic>
        <p:nvPicPr>
          <p:cNvPr id="18" name="Image 4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1600" y="2750679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781800" y="2750679"/>
            <a:ext cx="44737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Documented readiness review.</a:t>
            </a:r>
            <a:endParaRPr lang="en-US" sz="1500" dirty="0"/>
          </a:p>
        </p:txBody>
      </p:sp>
      <p:pic>
        <p:nvPicPr>
          <p:cNvPr id="20" name="Image 5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1600" y="3112629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781800" y="3112629"/>
            <a:ext cx="447370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Evidence of clearer understanding and improved trust.</a:t>
            </a:r>
            <a:endParaRPr lang="en-US" sz="1500" dirty="0"/>
          </a:p>
        </p:txBody>
      </p:sp>
      <p:pic>
        <p:nvPicPr>
          <p:cNvPr id="22" name="Image 6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1600" y="3722229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6781800" y="3722229"/>
            <a:ext cx="44737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Community feedback on cultural fit and safety.</a:t>
            </a:r>
            <a:endParaRPr lang="en-US" sz="1500" dirty="0"/>
          </a:p>
        </p:txBody>
      </p:sp>
      <p:pic>
        <p:nvPicPr>
          <p:cNvPr id="24" name="Image 7" descr="Check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51600" y="4084179"/>
            <a:ext cx="228600" cy="2286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781800" y="4084179"/>
            <a:ext cx="4473702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12261F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 practical consent-based follow-up route.</a:t>
            </a:r>
            <a:endParaRPr lang="en-US" sz="1500" dirty="0"/>
          </a:p>
        </p:txBody>
      </p:sp>
      <p:sp>
        <p:nvSpPr>
          <p:cNvPr id="26" name="Shape 16"/>
          <p:cNvSpPr/>
          <p:nvPr/>
        </p:nvSpPr>
        <p:spPr>
          <a:xfrm>
            <a:off x="838200" y="4814429"/>
            <a:ext cx="0" cy="316177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27" name="Text 17"/>
          <p:cNvSpPr/>
          <p:nvPr/>
        </p:nvSpPr>
        <p:spPr>
          <a:xfrm>
            <a:off x="1016000" y="4852529"/>
            <a:ext cx="10674096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Pause or modify where concerns remain unresolved. Attendance alone is not sufficient evidence of success.</a:t>
            </a:r>
            <a:endParaRPr lang="en-US" sz="1400" dirty="0"/>
          </a:p>
        </p:txBody>
      </p:sp>
      <p:sp>
        <p:nvSpPr>
          <p:cNvPr id="28" name="Text 18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B6358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Aderyn Impact Initiative · Janada Kefas · Source: supplied workbook, Clean Data (n=200)</a:t>
            </a:r>
            <a:endParaRPr lang="en-US" sz="1200" dirty="0"/>
          </a:p>
        </p:txBody>
      </p:sp>
      <p:sp>
        <p:nvSpPr>
          <p:cNvPr id="29" name="Text 19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0B4F3C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 more trusted return to Kallah">
  <a:themeElements>
    <a:clrScheme name="A more trusted return to Kallah">
      <a:dk1>
        <a:srgbClr val="0B4F3C"/>
      </a:dk1>
      <a:lt1>
        <a:srgbClr val="FBF6EC"/>
      </a:lt1>
      <a:dk2>
        <a:srgbClr val="477968"/>
      </a:dk2>
      <a:lt2>
        <a:srgbClr val="E3E5DA"/>
      </a:lt2>
      <a:accent1>
        <a:srgbClr val="F28C28"/>
      </a:accent1>
      <a:accent2>
        <a:srgbClr val="F5A04A"/>
      </a:accent2>
      <a:accent3>
        <a:srgbClr val="0F6B50"/>
      </a:accent3>
      <a:accent4>
        <a:srgbClr val="3F8A6E"/>
      </a:accent4>
      <a:accent5>
        <a:srgbClr val="D96D00"/>
      </a:accent5>
      <a:accent6>
        <a:srgbClr val="F5B26B"/>
      </a:accent6>
      <a:hlink>
        <a:srgbClr val="0563C1"/>
      </a:hlink>
      <a:folHlink>
        <a:srgbClr val="954F72"/>
      </a:folHlink>
    </a:clrScheme>
    <a:fontScheme name="A more trusted return to Kallah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uni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1547</Words>
  <Application>Microsoft Office PowerPoint</Application>
  <PresentationFormat>Widescreen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Nunito Sans</vt:lpstr>
      <vt:lpstr>Rubik</vt:lpstr>
      <vt:lpstr>A more trusted return to Kallah</vt:lpstr>
      <vt:lpstr>ADERYN IMPACT INITIATIVE</vt:lpstr>
      <vt:lpstr>The gap is engagement quality, not attendance</vt:lpstr>
      <vt:lpstr>English proficiency tracks understanding</vt:lpstr>
      <vt:lpstr>Understanding is associated with higher trust</vt:lpstr>
      <vt:lpstr>Low trust coincides with limited contribution</vt:lpstr>
      <vt:lpstr>Barriers span language, explanation and reach</vt:lpstr>
      <vt:lpstr>Local meetings preferred, return not assured</vt:lpstr>
      <vt:lpstr>Redesign outreach as relationship-building</vt:lpstr>
      <vt:lpstr>A phased return with named accountability</vt:lpstr>
      <vt:lpstr>Decision: pilot first, then scale or modify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more trusted return to Kallah</dc:title>
  <dc:subject/>
  <dc:creator>USER</dc:creator>
  <cp:lastModifiedBy>USER</cp:lastModifiedBy>
  <cp:revision>2</cp:revision>
  <dcterms:created xsi:type="dcterms:W3CDTF">2026-10-07T17:25:20Z</dcterms:created>
  <dcterms:modified xsi:type="dcterms:W3CDTF">2026-10-07T17:33:15Z</dcterms:modified>
</cp:coreProperties>
</file>